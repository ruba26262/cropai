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61bf9151e14f2a" /><Relationship Type="http://schemas.openxmlformats.org/officeDocument/2006/relationships/extended-properties" Target="/docProps/app.xml" Id="Raace112d1ef64818" /><Relationship Type="http://schemas.openxmlformats.org/officeDocument/2006/relationships/officeDocument" Target="/ppt/presentation.xml" Id="Rbf628304ec5244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216c3edf62425a"/>
  </p:sldMasterIdLst>
  <p:notesMasterIdLst>
    <p:notesMasterId xmlns:r="http://schemas.openxmlformats.org/officeDocument/2006/relationships" r:id="R3844e5f93a284809"/>
  </p:notesMasterIdLst>
  <p:sldIdLst>
    <p:sldId xmlns:r="http://schemas.openxmlformats.org/officeDocument/2006/relationships" id="256" r:id="Rd450891be40b438f"/>
    <p:sldId xmlns:r="http://schemas.openxmlformats.org/officeDocument/2006/relationships" id="257" r:id="R2adfc01f9ef349ae"/>
    <p:sldId xmlns:r="http://schemas.openxmlformats.org/officeDocument/2006/relationships" id="258" r:id="Rbb7cd4ff36fa430f"/>
    <p:sldId xmlns:r="http://schemas.openxmlformats.org/officeDocument/2006/relationships" id="259" r:id="Refd458b541fe4ad3"/>
    <p:sldId xmlns:r="http://schemas.openxmlformats.org/officeDocument/2006/relationships" id="260" r:id="R932472e11520483c"/>
    <p:sldId xmlns:r="http://schemas.openxmlformats.org/officeDocument/2006/relationships" id="261" r:id="R69c370f670434cb6"/>
    <p:sldId xmlns:r="http://schemas.openxmlformats.org/officeDocument/2006/relationships" id="262" r:id="Rbf9c8845dbd44e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eae9e9895d4709" /><Relationship Type="http://schemas.openxmlformats.org/officeDocument/2006/relationships/slideMaster" Target="/ppt/slideMasters/slideMaster1.xml" Id="R37216c3edf62425a" /><Relationship Type="http://schemas.openxmlformats.org/officeDocument/2006/relationships/notesMaster" Target="/ppt/notesMasters/notesMaster1.xml" Id="R3844e5f93a284809" /><Relationship Type="http://schemas.openxmlformats.org/officeDocument/2006/relationships/presProps" Target="/ppt/presProps.xml" Id="R6947a9be8f684a71" /><Relationship Type="http://schemas.openxmlformats.org/officeDocument/2006/relationships/tableStyles" Target="/ppt/tableStyles.xml" Id="R97b80614de644f7d" /><Relationship Type="http://schemas.openxmlformats.org/officeDocument/2006/relationships/slide" Target="/ppt/slides/slide1.xml" Id="Rd450891be40b438f" /><Relationship Type="http://schemas.openxmlformats.org/officeDocument/2006/relationships/slide" Target="/ppt/slides/slide2.xml" Id="R2adfc01f9ef349ae" /><Relationship Type="http://schemas.openxmlformats.org/officeDocument/2006/relationships/slide" Target="/ppt/slides/slide3.xml" Id="Rbb7cd4ff36fa430f" /><Relationship Type="http://schemas.openxmlformats.org/officeDocument/2006/relationships/slide" Target="/ppt/slides/slide4.xml" Id="Refd458b541fe4ad3" /><Relationship Type="http://schemas.openxmlformats.org/officeDocument/2006/relationships/slide" Target="/ppt/slides/slide5.xml" Id="R932472e11520483c" /><Relationship Type="http://schemas.openxmlformats.org/officeDocument/2006/relationships/slide" Target="/ppt/slides/slide6.xml" Id="R69c370f670434cb6" /><Relationship Type="http://schemas.openxmlformats.org/officeDocument/2006/relationships/slide" Target="/ppt/slides/slide7.xml" Id="Rbf9c8845dbd44e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8fdcc3cf8a48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c7876c0f704875" /><Relationship Type="http://schemas.openxmlformats.org/officeDocument/2006/relationships/notesMaster" Target="/ppt/notesMasters/notesMaster1.xml" Id="Rfa82b54539a942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d4f3c7d995d41e5" /><Relationship Type="http://schemas.openxmlformats.org/officeDocument/2006/relationships/notesMaster" Target="/ppt/notesMasters/notesMaster1.xml" Id="R3488d244cb7a45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8e703996084638" /><Relationship Type="http://schemas.openxmlformats.org/officeDocument/2006/relationships/notesMaster" Target="/ppt/notesMasters/notesMaster1.xml" Id="R04da766f5e2d4a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c369e7a0ff4a3d" /><Relationship Type="http://schemas.openxmlformats.org/officeDocument/2006/relationships/notesMaster" Target="/ppt/notesMasters/notesMaster1.xml" Id="R17e36a20ed4a44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8b08841f694424" /><Relationship Type="http://schemas.openxmlformats.org/officeDocument/2006/relationships/notesMaster" Target="/ppt/notesMasters/notesMaster1.xml" Id="R12b95107f17946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7de3b7a47a4255" /><Relationship Type="http://schemas.openxmlformats.org/officeDocument/2006/relationships/notesMaster" Target="/ppt/notesMasters/notesMaster1.xml" Id="R607010aa4c9c44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9426d68edd4712" /><Relationship Type="http://schemas.openxmlformats.org/officeDocument/2006/relationships/notesMaster" Target="/ppt/notesMasters/notesMaster1.xml" Id="Ra8547e9748674c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farmer outcome: earlier recognition, safer action, and expert escalation.</a:t>
            </a:r>
          </a:p>
          <a:p xmlns:a="http://schemas.openxmlformats.org/drawingml/2006/main">
            <a:r>
              <a:t>Do not begin with the technology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SIH problem statement details supplied by the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a decision-delay problem, not only an image-classification problem.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description supplied by Government of Maharashtra / team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live product after this slide.</a:t>
            </a:r>
          </a:p>
          <a:p xmlns:a="http://schemas.openxmlformats.org/drawingml/2006/main">
            <a:r>
              <a:t>Emphasize that unvalidated model outputs fail closed; the system never invents a diagnosis.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Prototype screenshot: CropAI project, captured 31 Aug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differentiator is the confidence gate between verification and action.</a:t>
            </a:r>
          </a:p>
          <a:p xmlns:a="http://schemas.openxmlformats.org/drawingml/2006/main">
            <a:r>
              <a:t>Explain that expert corrections create a governed learning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CropAI repository architecture and implemented scan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attack competitors; show the integration gap CropAI addresses.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Plantix official features: https://plantix.net/en/download/</a:t>
            </a:r>
          </a:p>
          <a:p xmlns:a="http://schemas.openxmlformats.org/drawingml/2006/main">
            <a:r>
              <a:t>PlantVillage Nuru / CGIAR: https://bigdata.cgiar.org/inspire/inspire-challenge-2017/pest-and-disease-monitoring-by-using-artificial-intelligence/</a:t>
            </a:r>
          </a:p>
          <a:p xmlns:a="http://schemas.openxmlformats.org/drawingml/2006/main">
            <a:r>
              <a:t>NPSS, Press Information Bureau, 25 Mar 2025: https://www.pib.gov.in/PressReleaseIframePage.aspx?PRID=2114896&amp;lang=2&amp;reg=48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transparent: the platform is working, while disease models must pass field validation before release.</a:t>
            </a:r>
          </a:p>
          <a:p xmlns:a="http://schemas.openxmlformats.org/drawingml/2006/main">
            <a:r>
              <a:t>This honesty is a safety and feasibility strength, not a weakness.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CropAI repository README and verified local build/security test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a district pilot and access to agricultural experts/field images.</a:t>
            </a:r>
          </a:p>
          <a:p xmlns:a="http://schemas.openxmlformats.org/drawingml/2006/main">
            <a:r>
              <a:t>Suggested pilot metrics: image completion rate, expert turnaround, safe-refusal rate, and farmer-reported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SIH evaluation criteria: novelty, feasibility, practicability, sustainability, impact, UX and future progression — https://sih.gov.in/letters/Guidelines-College-SPOC.pdf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2f913ac644f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5020c6c09f438f" /><Relationship Type="http://schemas.openxmlformats.org/officeDocument/2006/relationships/slideLayout" Target="/ppt/slideLayouts/slideLayout1.xml" Id="Re35eca590cd740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5eca590cd740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72386e0884c94" /><Relationship Type="http://schemas.openxmlformats.org/officeDocument/2006/relationships/notesSlide" Target="/ppt/notesSlides/notesSlide1.xml" Id="R80bdc9239eb14a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f539fb0634699" /><Relationship Type="http://schemas.openxmlformats.org/officeDocument/2006/relationships/notesSlide" Target="/ppt/notesSlides/notesSlide2.xml" Id="R18132780b0e84c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bd33da64244ac" /><Relationship Type="http://schemas.openxmlformats.org/officeDocument/2006/relationships/image" Target="/ppt/media/image.png" Id="Radb65125a95b4faf" /><Relationship Type="http://schemas.openxmlformats.org/officeDocument/2006/relationships/notesSlide" Target="/ppt/notesSlides/notesSlide3.xml" Id="R7ed5df6b84864d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27d7296164187" /><Relationship Type="http://schemas.openxmlformats.org/officeDocument/2006/relationships/notesSlide" Target="/ppt/notesSlides/notesSlide4.xml" Id="R676310a52f294f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98a833d57496c" /><Relationship Type="http://schemas.openxmlformats.org/officeDocument/2006/relationships/notesSlide" Target="/ppt/notesSlides/notesSlide5.xml" Id="R46d2707a922a43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343a4ef8949d4" /><Relationship Type="http://schemas.openxmlformats.org/officeDocument/2006/relationships/notesSlide" Target="/ppt/notesSlides/notesSlide6.xml" Id="R7c0c5c57dbd246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d9f5c6dc14d87" /><Relationship Type="http://schemas.openxmlformats.org/officeDocument/2006/relationships/notesSlide" Target="/ppt/notesSlides/notesSlide7.xml" Id="Rbed80d16754641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2EF812-DDEF-4D54-97A5-B497BFF5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9C98B"/>
                </a:solidFill>
              </a:defRPr>
            </a:pPr>
            <a:r>
              <a:rPr sz="1125" b="1">
                <a:solidFill>
                  <a:srgbClr val="79C98B"/>
                </a:solidFill>
              </a:rPr>
              <a:t>SMART INDIA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4840FC-8F14-47C7-8FDB-588EE869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33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6F2E8"/>
                </a:solidFill>
              </a:defRPr>
            </a:pPr>
            <a:r>
              <a:rPr sz="5400" b="1">
                <a:solidFill>
                  <a:srgbClr val="F6F2E8"/>
                </a:solidFill>
              </a:rPr>
              <a:t>CropAI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E6864-6ED7-4F09-8424-0357B441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09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2E8"/>
                </a:solidFill>
              </a:defRPr>
            </a:pPr>
            <a:r>
              <a:rPr sz="2550" b="1">
                <a:solidFill>
                  <a:srgbClr val="F6F2E8"/>
                </a:solidFill>
              </a:rPr>
              <a:t>Detect earlier. Act safely.</a:t>
            </a:r>
          </a:p>
          <a:p xmlns:a="http://schemas.openxmlformats.org/drawingml/2006/main">
            <a:pPr algn="l">
              <a:defRPr sz="2550" b="1">
                <a:solidFill>
                  <a:srgbClr val="F6F2E8"/>
                </a:solidFill>
              </a:defRPr>
            </a:pPr>
            <a:r>
              <a:rPr sz="2550" b="1">
                <a:solidFill>
                  <a:srgbClr val="F6F2E8"/>
                </a:solidFill>
              </a:rPr>
              <a:t>Escalate intelligently.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90921-86B8-48DB-BD54-1EC302CE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CE04A-D0F2-456B-9F62-37E004BB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647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9E1"/>
                </a:solidFill>
              </a:defRPr>
            </a:pPr>
            <a:r>
              <a:rPr sz="1650" b="0">
                <a:solidFill>
                  <a:srgbClr val="DDE9E1"/>
                </a:solidFill>
              </a:rPr>
              <a:t>Early detection and management of crop diseases and pest infestations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054C8-8BFA-43A8-8A17-F2041853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BD0C2"/>
                </a:solidFill>
              </a:defRPr>
            </a:pPr>
            <a:r>
              <a:rPr sz="1200" b="0">
                <a:solidFill>
                  <a:srgbClr val="BBD0C2"/>
                </a:solidFill>
              </a:rPr>
              <a:t>Problem Statement 26131  |  Software</a:t>
            </a:r>
          </a:p>
          <a:p xmlns:a="http://schemas.openxmlformats.org/drawingml/2006/main">
            <a:pPr algn="l">
              <a:defRPr sz="1200" b="0">
                <a:solidFill>
                  <a:srgbClr val="BBD0C2"/>
                </a:solidFill>
              </a:defRPr>
            </a:pPr>
            <a:r>
              <a:rPr sz="1200" b="0">
                <a:solidFill>
                  <a:srgbClr val="BBD0C2"/>
                </a:solidFill>
              </a:rPr>
              <a:t>Government of Maharashtra  |  Agriculture, FoodTech &amp; Rural Development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6385E-5E02-457A-88E9-AD269E36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0150"/>
            <a:ext cx="2076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79C98B"/>
                </a:solidFill>
              </a:defRPr>
            </a:pPr>
            <a:r>
              <a:rPr sz="1725" b="1">
                <a:solidFill>
                  <a:srgbClr val="79C98B"/>
                </a:solidFill>
              </a:rPr>
              <a:t>TROUBLE</a:t>
            </a:r>
          </a:p>
          <a:p xmlns:a="http://schemas.openxmlformats.org/drawingml/2006/main">
            <a:pPr algn="r">
              <a:defRPr sz="1725" b="1">
                <a:solidFill>
                  <a:srgbClr val="79C98B"/>
                </a:solidFill>
              </a:defRPr>
            </a:pPr>
            <a:r>
              <a:rPr sz="1725" b="1">
                <a:solidFill>
                  <a:srgbClr val="79C98B"/>
                </a:solidFill>
              </a:rPr>
              <a:t>SHOOTERS</a:t>
            </a:r>
          </a:p>
        </p:txBody>
      </p:sp>
    </p:spTree>
    <p:extLst>
      <p:ext uri="{BB962C8B-B14F-4D97-AF65-F5344CB8AC3E}">
        <p14:creationId xmlns:p14="http://schemas.microsoft.com/office/powerpoint/2010/main" val="137998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3D6AC2-887A-4267-82EE-48310842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D2B"/>
                </a:solidFill>
              </a:defRPr>
            </a:pPr>
            <a:r>
              <a:rPr sz="975" b="1">
                <a:solidFill>
                  <a:srgbClr val="173D2B"/>
                </a:solidFill>
              </a:rPr>
              <a:t>THE CHALLENGE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24921-6817-4952-963A-B13B51F2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1A"/>
                </a:solidFill>
              </a:defRPr>
            </a:pPr>
            <a:r>
              <a:rPr sz="2850" b="1">
                <a:solidFill>
                  <a:srgbClr val="13231A"/>
                </a:solidFill>
              </a:rPr>
              <a:t>The dangerous gap is between first symptom and trusted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12A12-116D-4EAB-820D-73D1431A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268"/>
                </a:solidFill>
              </a:defRPr>
            </a:pPr>
            <a:r>
              <a:rPr sz="975" b="1">
                <a:solidFill>
                  <a:srgbClr val="60726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3D7930-793B-4C45-B66C-F8F47C7C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5A37F-0E4E-488B-9DFE-071B6120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67E3F"/>
                </a:solidFill>
              </a:defRPr>
            </a:pPr>
            <a:r>
              <a:rPr sz="3450" b="1">
                <a:solidFill>
                  <a:srgbClr val="E67E3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5E876-A774-4059-896F-B70E163D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90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31A"/>
                </a:solidFill>
              </a:defRPr>
            </a:pPr>
            <a:r>
              <a:rPr sz="2025" b="1">
                <a:solidFill>
                  <a:srgbClr val="13231A"/>
                </a:solidFill>
              </a:rPr>
              <a:t>Symptoms begin quietly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0B2AA-5D5E-4059-A5D5-206C7F2D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268"/>
                </a:solidFill>
              </a:defRPr>
            </a:pPr>
            <a:r>
              <a:rPr sz="1425" b="0">
                <a:solidFill>
                  <a:srgbClr val="607268"/>
                </a:solidFill>
              </a:rPr>
              <a:t>Farmers often act only after visible damage has spread across the plot.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CDA65-D776-4B82-BE0B-B13BE778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67E3F"/>
                </a:solidFill>
              </a:defRPr>
            </a:pPr>
            <a:r>
              <a:rPr sz="3450" b="1">
                <a:solidFill>
                  <a:srgbClr val="E67E3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8B328-CB23-488B-AF05-FF65232B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242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31A"/>
                </a:solidFill>
              </a:defRPr>
            </a:pPr>
            <a:r>
              <a:rPr sz="2025" b="1">
                <a:solidFill>
                  <a:srgbClr val="13231A"/>
                </a:solidFill>
              </a:rPr>
              <a:t>Expert capacity is stretched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4190D-8FB7-435A-9114-02172E45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43300"/>
            <a:ext cx="438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268"/>
                </a:solidFill>
              </a:defRPr>
            </a:pPr>
            <a:r>
              <a:rPr sz="1425" b="0">
                <a:solidFill>
                  <a:srgbClr val="607268"/>
                </a:solidFill>
              </a:rPr>
              <a:t>Extension workers cover large areas; laboratory confirmation takes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34B0D-C943-4A7C-8C1B-45D165DD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67E3F"/>
                </a:solidFill>
              </a:defRPr>
            </a:pPr>
            <a:r>
              <a:rPr sz="3450" b="1">
                <a:solidFill>
                  <a:srgbClr val="E67E3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486E4-C30D-42E0-8BD7-8F88E015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31A"/>
                </a:solidFill>
              </a:defRPr>
            </a:pPr>
            <a:r>
              <a:rPr sz="2025" b="1">
                <a:solidFill>
                  <a:srgbClr val="13231A"/>
                </a:solidFill>
              </a:rPr>
              <a:t>A wrong answer can worsen 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99EBF2-AA75-49F4-8B48-B89F75AF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768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268"/>
                </a:solidFill>
              </a:defRPr>
            </a:pPr>
            <a:r>
              <a:rPr sz="1425" b="0">
                <a:solidFill>
                  <a:srgbClr val="607268"/>
                </a:solidFill>
              </a:rPr>
              <a:t>Similar symptoms may come from disease, pests, nutrients, water or weather.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35B46-433A-4886-BEEB-0535DB5D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90700"/>
            <a:ext cx="4476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7F2E9"/>
          </a:solidFill>
          <a:ln xmlns:a="http://schemas.openxmlformats.org/drawingml/2006/main" w="9525">
            <a:solidFill>
              <a:srgbClr val="173D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DCA9FF-C0EF-4320-9A29-7DA0AECC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526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3D2B"/>
                </a:solidFill>
              </a:defRPr>
            </a:pPr>
            <a:r>
              <a:rPr sz="1800" b="1">
                <a:solidFill>
                  <a:srgbClr val="173D2B"/>
                </a:solidFill>
              </a:rPr>
              <a:t>What farmers need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F4CF8-1202-44AF-BB3E-3F2BDEE3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D2B"/>
                </a:solidFill>
              </a:defRPr>
            </a:pPr>
            <a:r>
              <a:rPr sz="2625" b="1">
                <a:solidFill>
                  <a:srgbClr val="173D2B"/>
                </a:solidFill>
              </a:rPr>
              <a:t>EARLY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7FBCE-4C57-44DD-8741-8FCE25C0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8194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268"/>
                </a:solidFill>
              </a:defRPr>
            </a:pPr>
            <a:r>
              <a:rPr sz="1575" b="0">
                <a:solidFill>
                  <a:srgbClr val="607268"/>
                </a:solidFill>
              </a:rPr>
              <a:t>recognition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A052B4-D2E9-4FAF-864B-82450672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43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D2B"/>
                </a:solidFill>
              </a:defRPr>
            </a:pPr>
            <a:r>
              <a:rPr sz="2625" b="1">
                <a:solidFill>
                  <a:srgbClr val="173D2B"/>
                </a:solidFill>
              </a:rPr>
              <a:t>SAFE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EA549-9A37-4BBB-BFE9-4E7F1552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814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268"/>
                </a:solidFill>
              </a:defRPr>
            </a:pPr>
            <a:r>
              <a:rPr sz="1575" b="0">
                <a:solidFill>
                  <a:srgbClr val="607268"/>
                </a:solidFill>
              </a:rPr>
              <a:t>next action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F18B6-CBCB-4498-8AD6-BEFCB211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053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3D2B"/>
                </a:solidFill>
              </a:defRPr>
            </a:pPr>
            <a:r>
              <a:rPr sz="2625" b="1">
                <a:solidFill>
                  <a:srgbClr val="173D2B"/>
                </a:solidFill>
              </a:rPr>
              <a:t>HUMAN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7A0656-1A1B-4042-A64F-43884608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672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268"/>
                </a:solidFill>
              </a:defRPr>
            </a:pPr>
            <a:r>
              <a:rPr sz="1575" b="0">
                <a:solidFill>
                  <a:srgbClr val="607268"/>
                </a:solidFill>
              </a:rPr>
              <a:t>backup when AI is unsure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D03520-9185-475A-A568-5B45FB0D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268"/>
                </a:solidFill>
              </a:defRPr>
            </a:pPr>
            <a:r>
              <a:rPr sz="825" b="1">
                <a:solidFill>
                  <a:srgbClr val="607268"/>
                </a:solidFill>
              </a:rPr>
              <a:t>TROUBLE SHOOTERS  •  SIH 26131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B07C5-32BB-4249-9CA9-3D9AB8D2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268"/>
                </a:solidFill>
              </a:defRPr>
            </a:pPr>
            <a:r>
              <a:rPr sz="825" b="1">
                <a:solidFill>
                  <a:srgbClr val="607268"/>
                </a:solidFill>
              </a:rPr>
              <a:t>CropAI Maharashtra</a:t>
            </a:r>
          </a:p>
        </p:txBody>
      </p:sp>
    </p:spTree>
    <p:extLst>
      <p:ext uri="{BB962C8B-B14F-4D97-AF65-F5344CB8AC3E}">
        <p14:creationId xmlns:p14="http://schemas.microsoft.com/office/powerpoint/2010/main" val="1913358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F8891-574D-48F5-A068-CD4FD074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D2B"/>
                </a:solidFill>
              </a:defRPr>
            </a:pPr>
            <a:r>
              <a:rPr sz="975" b="1">
                <a:solidFill>
                  <a:srgbClr val="173D2B"/>
                </a:solidFill>
              </a:rPr>
              <a:t>OUR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B156A-34B3-4992-AD38-A02C7420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1A"/>
                </a:solidFill>
              </a:defRPr>
            </a:pPr>
            <a:r>
              <a:rPr sz="2850" b="1">
                <a:solidFill>
                  <a:srgbClr val="13231A"/>
                </a:solidFill>
              </a:rPr>
              <a:t>CropAI closes the loop from field evidence to verified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178C4-8F68-4F11-80AE-123E919F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268"/>
                </a:solidFill>
              </a:defRPr>
            </a:pPr>
            <a:r>
              <a:rPr sz="975" b="1">
                <a:solidFill>
                  <a:srgbClr val="60726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39E51-2B95-44FD-9730-9E162C13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65125a95b4faf"/>
          <a:srcRect xmlns:a="http://schemas.openxmlformats.org/drawingml/2006/main" l="240" t="0" r="2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752600"/>
            <a:ext cx="657225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9C3CA-B9EF-4188-8B0B-D66B09F4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752600"/>
            <a:ext cx="381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D2B"/>
                </a:solidFill>
              </a:defRPr>
            </a:pPr>
            <a:r>
              <a:rPr sz="2025" b="1">
                <a:solidFill>
                  <a:srgbClr val="173D2B"/>
                </a:solidFill>
              </a:rPr>
              <a:t>A working Firebase PWA—not a concept mock-up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03C81-E472-43C6-B735-576DDE22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33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2B"/>
                </a:solidFill>
              </a:defRPr>
            </a:pPr>
            <a:r>
              <a:rPr sz="1500" b="1">
                <a:solidFill>
                  <a:srgbClr val="173D2B"/>
                </a:solidFill>
              </a:rPr>
              <a:t>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59102-C2F6-4C33-B03F-7C7A4667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Guided close-up + whole-plant capture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6ED9E-C4D6-4B9A-A8F3-74B32182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00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2B"/>
                </a:solidFill>
              </a:defRPr>
            </a:pPr>
            <a:r>
              <a:rPr sz="1500" b="1">
                <a:solidFill>
                  <a:srgbClr val="173D2B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063B2-BB63-40B7-B6DC-D1E3E2EA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6227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Crop, farm, soil, irrigation &amp; symptoms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DDA8A-E344-47A2-B520-90C97F20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467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2B"/>
                </a:solidFill>
              </a:defRPr>
            </a:pPr>
            <a:r>
              <a:rPr sz="1500" b="1">
                <a:solidFill>
                  <a:srgbClr val="173D2B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45EBA-ED05-41EC-93CB-48186FF9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Marathi / Hindi / English + voice 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B2C8C-E45C-463E-92FA-4A054142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9338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2B"/>
                </a:solidFill>
              </a:defRPr>
            </a:pPr>
            <a:r>
              <a:rPr sz="1500" b="1">
                <a:solidFill>
                  <a:srgbClr val="173D2B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4B5F7-DDC7-4A13-B446-2B2F3F9F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9572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Confidence gate: diagnose or safely abstain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D26B8-DB2A-4072-9D03-17F74CE6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2B"/>
                </a:solidFill>
              </a:defRPr>
            </a:pPr>
            <a:r>
              <a:rPr sz="1500" b="1">
                <a:solidFill>
                  <a:srgbClr val="173D2B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F4827A-015B-4D29-B3C3-F1B7EC20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62450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Expert review and private farmer alerts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74EC3-73D6-4F68-BC2C-28E9E7C4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672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3D2B"/>
                </a:solidFill>
              </a:defRPr>
            </a:pPr>
            <a:r>
              <a:rPr sz="1500" b="1">
                <a:solidFill>
                  <a:srgbClr val="173D2B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83A65-25A8-401A-B5FF-95FDF4C5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29175"/>
            <a:ext cx="338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Offline draft queue for weak connectivity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0B9A3-4DFF-4CF4-9675-A4EF0C04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429250"/>
            <a:ext cx="3810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73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EE2ADB-DB2D-489E-BD5D-5DA866DF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245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F2E8"/>
                </a:solidFill>
              </a:defRPr>
            </a:pPr>
            <a:r>
              <a:rPr sz="1350" b="1">
                <a:solidFill>
                  <a:srgbClr val="F6F2E8"/>
                </a:solidFill>
              </a:rPr>
              <a:t>Prototype ready for live demonstration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AEAD2C-2502-4DD2-BE94-33D981AF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268"/>
                </a:solidFill>
              </a:defRPr>
            </a:pPr>
            <a:r>
              <a:rPr sz="825" b="1">
                <a:solidFill>
                  <a:srgbClr val="607268"/>
                </a:solidFill>
              </a:rPr>
              <a:t>TROUBLE SHOOTERS  •  SIH 26131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4928C9-7ED6-42BE-B195-D5F0708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268"/>
                </a:solidFill>
              </a:defRPr>
            </a:pPr>
            <a:r>
              <a:rPr sz="825" b="1">
                <a:solidFill>
                  <a:srgbClr val="607268"/>
                </a:solidFill>
              </a:rPr>
              <a:t>CropAI Maharashtra</a:t>
            </a:r>
          </a:p>
        </p:txBody>
      </p:sp>
    </p:spTree>
    <p:extLst>
      <p:ext uri="{BB962C8B-B14F-4D97-AF65-F5344CB8AC3E}">
        <p14:creationId xmlns:p14="http://schemas.microsoft.com/office/powerpoint/2010/main" val="3789298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B4F0D1-8450-49FA-A73B-D9006261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D2B"/>
                </a:solidFill>
              </a:defRPr>
            </a:pPr>
            <a:r>
              <a:rPr sz="975" b="1">
                <a:solidFill>
                  <a:srgbClr val="173D2B"/>
                </a:solidFill>
              </a:rPr>
              <a:t>HOW IT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80262-38EE-4CC2-A7F3-2E47DCA8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1A"/>
                </a:solidFill>
              </a:defRPr>
            </a:pPr>
            <a:r>
              <a:rPr sz="2850" b="1">
                <a:solidFill>
                  <a:srgbClr val="13231A"/>
                </a:solidFill>
              </a:rPr>
              <a:t>Five checks turn a photo into a safer farm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E4EB0-F49E-49FA-A9B4-D4225263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268"/>
                </a:solidFill>
              </a:defRPr>
            </a:pPr>
            <a:r>
              <a:rPr sz="975" b="1">
                <a:solidFill>
                  <a:srgbClr val="60726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8814C-B7CA-4BD3-B24D-8D15EF66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C8A39-6E0A-482A-A224-3A066539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924050" cy="20383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AFD43-C5B1-4C46-A46D-350397B1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7E3F"/>
                </a:solidFill>
              </a:defRPr>
            </a:pPr>
            <a:r>
              <a:rPr sz="2100" b="1">
                <a:solidFill>
                  <a:srgbClr val="E67E3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D4DEC-4CE2-4BCA-8A94-59CF538C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D2B"/>
                </a:solidFill>
              </a:defRPr>
            </a:pPr>
            <a:r>
              <a:rPr sz="1650" b="1">
                <a:solidFill>
                  <a:srgbClr val="173D2B"/>
                </a:solidFill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0ACD5-987F-41F3-A71D-53AFE7C0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68"/>
                </a:solidFill>
              </a:defRPr>
            </a:pPr>
            <a:r>
              <a:rPr sz="1275" b="0">
                <a:solidFill>
                  <a:srgbClr val="607268"/>
                </a:solidFill>
              </a:rPr>
              <a:t>2–3 guided 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288F0-C99C-4CF0-961A-B1ED2887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813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3D2B"/>
                </a:solidFill>
              </a:defRPr>
            </a:pPr>
            <a:r>
              <a:rPr sz="2700" b="1">
                <a:solidFill>
                  <a:srgbClr val="173D2B"/>
                </a:solidFill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754C4-E976-43CD-9D58-C063D40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57400"/>
            <a:ext cx="1924050" cy="20383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91AE8-728E-4403-80D8-B5B9264E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28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7E3F"/>
                </a:solidFill>
              </a:defRPr>
            </a:pPr>
            <a:r>
              <a:rPr sz="2100" b="1">
                <a:solidFill>
                  <a:srgbClr val="E67E3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40270-FE18-4954-A6FB-F946458F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384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D2B"/>
                </a:solidFill>
              </a:defRPr>
            </a:pPr>
            <a:r>
              <a:rPr sz="1650" b="1">
                <a:solidFill>
                  <a:srgbClr val="173D2B"/>
                </a:solidFill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B3030-D9BB-4261-A21C-1DAC3FEF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766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68"/>
                </a:solidFill>
              </a:defRPr>
            </a:pPr>
            <a:r>
              <a:rPr sz="1275" b="0">
                <a:solidFill>
                  <a:srgbClr val="607268"/>
                </a:solidFill>
              </a:rPr>
              <a:t>Farm + crop + symptoms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CF296-75CB-4213-B554-DA6EF795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813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3D2B"/>
                </a:solidFill>
              </a:defRPr>
            </a:pPr>
            <a:r>
              <a:rPr sz="2700" b="1">
                <a:solidFill>
                  <a:srgbClr val="173D2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DB0B07-47C5-4DD6-AE1B-60F4CF2B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57400"/>
            <a:ext cx="1924050" cy="20383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6D444-9B62-4926-8C32-85F2953D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7E3F"/>
                </a:solidFill>
              </a:defRPr>
            </a:pPr>
            <a:r>
              <a:rPr sz="2100" b="1">
                <a:solidFill>
                  <a:srgbClr val="E67E3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C38E4B-2541-4FD9-A858-75E9E56B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384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D2B"/>
                </a:solidFill>
              </a:defRPr>
            </a:pPr>
            <a:r>
              <a:rPr sz="1650" b="1">
                <a:solidFill>
                  <a:srgbClr val="173D2B"/>
                </a:solidFill>
              </a:rPr>
              <a:t>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87E35-AE41-4CE6-9373-E6E4CBC5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766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68"/>
                </a:solidFill>
              </a:defRPr>
            </a:pPr>
            <a:r>
              <a:rPr sz="1275" b="0">
                <a:solidFill>
                  <a:srgbClr val="607268"/>
                </a:solidFill>
              </a:rPr>
              <a:t>Quality + scope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9E9348-17A4-4180-BBAB-DDD4E968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813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3D2B"/>
                </a:solidFill>
              </a:defRPr>
            </a:pPr>
            <a:r>
              <a:rPr sz="2700" b="1">
                <a:solidFill>
                  <a:srgbClr val="173D2B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2DFF4-4411-4D59-81CB-905C86AA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1924050" cy="20383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173D2B"/>
          </a:solidFill>
          <a:ln xmlns:a="http://schemas.openxmlformats.org/drawingml/2006/main" w="9525">
            <a:solidFill>
              <a:srgbClr val="173D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D66CF-C4F0-449D-8110-DBA3874A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28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9C98B"/>
                </a:solidFill>
              </a:defRPr>
            </a:pPr>
            <a:r>
              <a:rPr sz="2100" b="1">
                <a:solidFill>
                  <a:srgbClr val="79C98B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36907F-B781-4DCC-A946-F97BFD20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384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2E8"/>
                </a:solidFill>
              </a:defRPr>
            </a:pPr>
            <a:r>
              <a:rPr sz="1650" b="1">
                <a:solidFill>
                  <a:srgbClr val="F6F2E8"/>
                </a:solidFill>
              </a:rPr>
              <a:t>DECIDE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491CA7-39AA-4561-A03B-3CE78F22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766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9E1"/>
                </a:solidFill>
              </a:defRPr>
            </a:pPr>
            <a:r>
              <a:rPr sz="1275" b="0">
                <a:solidFill>
                  <a:srgbClr val="DDE9E1"/>
                </a:solidFill>
              </a:rPr>
              <a:t>Diagnosis or safe refusal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E9F37-A72D-46DD-B326-D20D4852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28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3D2B"/>
                </a:solidFill>
              </a:defRPr>
            </a:pPr>
            <a:r>
              <a:rPr sz="2700" b="1">
                <a:solidFill>
                  <a:srgbClr val="173D2B"/>
                </a:solidFill>
              </a:rPr>
              <a:t>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570490-B7A0-488F-974F-7E9EC7BB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1924050" cy="20383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9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2D31E6-C927-4A5F-A7E1-7B0EC8EC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288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7E3F"/>
                </a:solidFill>
              </a:defRPr>
            </a:pPr>
            <a:r>
              <a:rPr sz="2100" b="1">
                <a:solidFill>
                  <a:srgbClr val="E67E3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2FE460-F3D9-423D-A4E7-6754684C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3845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D2B"/>
                </a:solidFill>
              </a:defRPr>
            </a:pPr>
            <a:r>
              <a:rPr sz="1650" b="1">
                <a:solidFill>
                  <a:srgbClr val="173D2B"/>
                </a:solidFill>
              </a:rPr>
              <a:t>ACT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679094-DA9B-47A5-A1A1-348C87FD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76600"/>
            <a:ext cx="1581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07268"/>
                </a:solidFill>
              </a:defRPr>
            </a:pPr>
            <a:r>
              <a:rPr sz="1275" b="0">
                <a:solidFill>
                  <a:srgbClr val="607268"/>
                </a:solidFill>
              </a:rPr>
              <a:t>IPM guidance or expert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A7210A-2F1A-4949-A74A-32705713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100584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B2B10A-960D-49AF-98AE-774D7370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577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3D2B"/>
                </a:solidFill>
              </a:defRPr>
            </a:pPr>
            <a:r>
              <a:rPr sz="1875" b="1">
                <a:solidFill>
                  <a:srgbClr val="173D2B"/>
                </a:solidFill>
              </a:rPr>
              <a:t>Every uncertain case becomes useful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37FDF9-03FA-46EB-BD10-0C4C7C1E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9700"/>
            <a:ext cx="901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268"/>
                </a:solidFill>
              </a:defRPr>
            </a:pPr>
            <a:r>
              <a:rPr sz="1350" b="0">
                <a:solidFill>
                  <a:srgbClr val="607268"/>
                </a:solidFill>
              </a:rPr>
              <a:t>Expert corrections improve the dataset; privacy-thresholded signals reveal emerging taluka-level outbreaks.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2D78B1-EDF4-4FF6-BC1D-FC1F81F7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268"/>
                </a:solidFill>
              </a:defRPr>
            </a:pPr>
            <a:r>
              <a:rPr sz="825" b="1">
                <a:solidFill>
                  <a:srgbClr val="607268"/>
                </a:solidFill>
              </a:rPr>
              <a:t>TROUBLE SHOOTERS  •  SIH 26131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71F3BF-F2A5-4E3E-BDDD-0F1AFF09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268"/>
                </a:solidFill>
              </a:defRPr>
            </a:pPr>
            <a:r>
              <a:rPr sz="825" b="1">
                <a:solidFill>
                  <a:srgbClr val="607268"/>
                </a:solidFill>
              </a:rPr>
              <a:t>CropAI Maharashtra</a:t>
            </a:r>
          </a:p>
        </p:txBody>
      </p:sp>
    </p:spTree>
    <p:extLst>
      <p:ext uri="{BB962C8B-B14F-4D97-AF65-F5344CB8AC3E}">
        <p14:creationId xmlns:p14="http://schemas.microsoft.com/office/powerpoint/2010/main" val="1056685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287692D-941D-4AF5-8686-05386705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D2B"/>
                </a:solidFill>
              </a:defRPr>
            </a:pPr>
            <a:r>
              <a:rPr sz="975" b="1">
                <a:solidFill>
                  <a:srgbClr val="173D2B"/>
                </a:solidFill>
              </a:rPr>
              <a:t>WHY CROPAI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44255-860E-4244-89C2-FBAECA51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1A"/>
                </a:solidFill>
              </a:defRPr>
            </a:pPr>
            <a:r>
              <a:rPr sz="2850" b="1">
                <a:solidFill>
                  <a:srgbClr val="13231A"/>
                </a:solidFill>
              </a:rPr>
              <a:t>We combine capabilities that existing tools leave disconnected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D6FD2-5F2F-461E-9FF5-075168D3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268"/>
                </a:solidFill>
              </a:defRPr>
            </a:pPr>
            <a:r>
              <a:rPr sz="975" b="1">
                <a:solidFill>
                  <a:srgbClr val="607268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9CC6E9-6281-4F56-9E28-1EC7823C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BDAAB-CF39-4B5F-B566-1564FB78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78D43-6FB9-4E80-A4BA-EEBC5653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31A"/>
                </a:solidFill>
              </a:defRPr>
            </a:pPr>
            <a:r>
              <a:rPr sz="1350" b="1">
                <a:solidFill>
                  <a:srgbClr val="13231A"/>
                </a:solidFill>
              </a:rPr>
              <a:t>Capability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D5285-9752-45E5-910F-8BC003E6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33550"/>
            <a:ext cx="2419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BB3BE-F334-4BC4-8A5E-D0B5FB220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09750"/>
            <a:ext cx="2152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31A"/>
                </a:solidFill>
              </a:defRPr>
            </a:pPr>
            <a:r>
              <a:rPr sz="1350" b="1">
                <a:solidFill>
                  <a:srgbClr val="13231A"/>
                </a:solidFill>
              </a:rPr>
              <a:t>Plantix / Nuru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62639-CDBE-479B-97EB-5CE015C4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C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1CB88-7B59-403E-836F-C78817CA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31A"/>
                </a:solidFill>
              </a:defRPr>
            </a:pPr>
            <a:r>
              <a:rPr sz="1350" b="1">
                <a:solidFill>
                  <a:srgbClr val="13231A"/>
                </a:solidFill>
              </a:rPr>
              <a:t>NPSS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9F9375-A6AE-466F-8C01-24CC0EC4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33550"/>
            <a:ext cx="2914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0F3D6-6747-4BE5-80E9-97746318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2E8"/>
                </a:solidFill>
              </a:defRPr>
            </a:pPr>
            <a:r>
              <a:rPr sz="1350" b="1">
                <a:solidFill>
                  <a:srgbClr val="F6F2E8"/>
                </a:solidFill>
              </a:rPr>
              <a:t>CropAI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80F69-47BC-4EB3-A999-35C6F8A7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A4C86-BC2F-4EA2-91C8-0E46156A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590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31A"/>
                </a:solidFill>
              </a:defRPr>
            </a:pPr>
            <a:r>
              <a:rPr sz="1200" b="1">
                <a:solidFill>
                  <a:srgbClr val="13231A"/>
                </a:solidFill>
              </a:rPr>
              <a:t>Field image diagnosis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AFC5F-A8AF-49C1-8625-03C1FF24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66950"/>
            <a:ext cx="24193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A0B2A-CA3E-4CF0-A91C-9309D472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2152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68"/>
                </a:solidFill>
              </a:defRPr>
            </a:pPr>
            <a:r>
              <a:rPr sz="1200" b="0">
                <a:solidFill>
                  <a:srgbClr val="607268"/>
                </a:solidFill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4DBCB7-3A3C-4999-9092-89C672A8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2324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A39F5-B554-4DF1-86EF-CB215820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2057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68"/>
                </a:solidFill>
              </a:defRPr>
            </a:pPr>
            <a:r>
              <a:rPr sz="1200" b="0">
                <a:solidFill>
                  <a:srgbClr val="607268"/>
                </a:solidFill>
              </a:rPr>
              <a:t>Strong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DCE76-A6C2-4D49-95BF-EBF9A8D1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66950"/>
            <a:ext cx="29146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754EA-38F8-4B10-936B-82339406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D2B"/>
                </a:solidFill>
              </a:defRPr>
            </a:pPr>
            <a:r>
              <a:rPr sz="1200" b="1">
                <a:solidFill>
                  <a:srgbClr val="173D2B"/>
                </a:solidFill>
              </a:rPr>
              <a:t>Guided multi-view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14A2C-4F05-454C-B9F3-3C83E932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72BB4-5F70-49A8-8CE2-856E103C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2590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31A"/>
                </a:solidFill>
              </a:defRPr>
            </a:pPr>
            <a:r>
              <a:rPr sz="1200" b="1">
                <a:solidFill>
                  <a:srgbClr val="13231A"/>
                </a:solidFill>
              </a:rPr>
              <a:t>Works in low connectivity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3ED697-E14D-4927-9A94-608B2EFD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47975"/>
            <a:ext cx="24193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3F830-3EEA-4F21-B050-2187D0BD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24175"/>
            <a:ext cx="2152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68"/>
                </a:solidFill>
              </a:defRPr>
            </a:pPr>
            <a:r>
              <a:rPr sz="1200" b="0">
                <a:solidFill>
                  <a:srgbClr val="607268"/>
                </a:solidFill>
              </a:rPr>
              <a:t>Nuru: offline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E75F3-EF37-46CD-9559-5D7CBF28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47975"/>
            <a:ext cx="2324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32F33E-7A7B-41A8-9C4F-B1CE7ACE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24175"/>
            <a:ext cx="2057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68"/>
                </a:solidFill>
              </a:defRPr>
            </a:pPr>
            <a:r>
              <a:rPr sz="1200" b="0">
                <a:solidFill>
                  <a:srgbClr val="607268"/>
                </a:solidFill>
              </a:rPr>
              <a:t>Limited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AB8E92-263D-49BD-8F03-EBAF427B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47975"/>
            <a:ext cx="29146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4B6D57-6F2A-4C06-9EFD-9F4433F0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2417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D2B"/>
                </a:solidFill>
              </a:defRPr>
            </a:pPr>
            <a:r>
              <a:rPr sz="1200" b="1">
                <a:solidFill>
                  <a:srgbClr val="173D2B"/>
                </a:solidFill>
              </a:rPr>
              <a:t>Offline drafts + sync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21BF81-0DC0-4CE4-A792-1DFD8F7C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D3EBC0-DCD9-43CA-A0FB-C71F46C8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2590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31A"/>
                </a:solidFill>
              </a:defRPr>
            </a:pPr>
            <a:r>
              <a:rPr sz="1200" b="1">
                <a:solidFill>
                  <a:srgbClr val="13231A"/>
                </a:solidFill>
              </a:rPr>
              <a:t>Local farmer experience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7D85C4-6906-41B7-B48D-13C4C23B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29000"/>
            <a:ext cx="24193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058F0A-5B04-4353-AE08-5ABF02E8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05200"/>
            <a:ext cx="2152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68"/>
                </a:solidFill>
              </a:defRPr>
            </a:pPr>
            <a:r>
              <a:rPr sz="1200" b="0">
                <a:solidFill>
                  <a:srgbClr val="607268"/>
                </a:solidFill>
              </a:rPr>
              <a:t>Multilingual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773139-308B-4B2C-A740-9593FE42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2324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CA5758-50BF-4CC9-B54E-FDBE0F6A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2057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68"/>
                </a:solidFill>
              </a:defRPr>
            </a:pPr>
            <a:r>
              <a:rPr sz="1200" b="0">
                <a:solidFill>
                  <a:srgbClr val="607268"/>
                </a:solidFill>
              </a:rPr>
              <a:t>National app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B7DCEE-0ABF-4EE7-A607-0FA4354D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9146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768176-CF21-427A-8309-53F71153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0520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D2B"/>
                </a:solidFill>
              </a:defRPr>
            </a:pPr>
            <a:r>
              <a:rPr sz="1200" b="1">
                <a:solidFill>
                  <a:srgbClr val="173D2B"/>
                </a:solidFill>
              </a:rPr>
              <a:t>Marathi voice-first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E8520B-1B18-4C5B-AF04-030821E4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785063-A1A6-4854-B8CA-C2CEDECB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86225"/>
            <a:ext cx="2590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31A"/>
                </a:solidFill>
              </a:defRPr>
            </a:pPr>
            <a:r>
              <a:rPr sz="1200" b="1">
                <a:solidFill>
                  <a:srgbClr val="13231A"/>
                </a:solidFill>
              </a:rPr>
              <a:t>Uncertainty handling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3CDFCE-D267-4765-B20C-DD067287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10025"/>
            <a:ext cx="24193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5D34A7-A5EF-4B72-83A9-3A870FE3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86225"/>
            <a:ext cx="2152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68"/>
                </a:solidFill>
              </a:defRPr>
            </a:pPr>
            <a:r>
              <a:rPr sz="1200" b="0">
                <a:solidFill>
                  <a:srgbClr val="607268"/>
                </a:solidFill>
              </a:rPr>
              <a:t>Varies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58055D9-D01A-4E27-B624-0E90F6A1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0025"/>
            <a:ext cx="2324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7E9298-DC89-4629-8A15-9EA02E77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86225"/>
            <a:ext cx="2057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68"/>
                </a:solidFill>
              </a:defRPr>
            </a:pPr>
            <a:r>
              <a:rPr sz="1200" b="0">
                <a:solidFill>
                  <a:srgbClr val="607268"/>
                </a:solidFill>
              </a:rPr>
              <a:t>Advisory workflow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50DC15-BB20-4D08-B8B6-3E435F97A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10025"/>
            <a:ext cx="29146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0766955-425E-457C-9DBE-91FB7132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8622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D2B"/>
                </a:solidFill>
              </a:defRPr>
            </a:pPr>
            <a:r>
              <a:rPr sz="1200" b="1">
                <a:solidFill>
                  <a:srgbClr val="173D2B"/>
                </a:solidFill>
              </a:rPr>
              <a:t>Fail-safe abstention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963932-131B-4059-B7B4-0EC17D44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83B867B-2384-41D9-B9D3-031EBC96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590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31A"/>
                </a:solidFill>
              </a:defRPr>
            </a:pPr>
            <a:r>
              <a:rPr sz="1200" b="1">
                <a:solidFill>
                  <a:srgbClr val="13231A"/>
                </a:solidFill>
              </a:rPr>
              <a:t>Expert correction loop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669460-1B0C-4469-86B9-81BECAAD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91050"/>
            <a:ext cx="24193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3929A6-D5AF-4A39-AB2A-55064198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67250"/>
            <a:ext cx="2152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68"/>
                </a:solidFill>
              </a:defRPr>
            </a:pPr>
            <a:r>
              <a:rPr sz="1200" b="0">
                <a:solidFill>
                  <a:srgbClr val="607268"/>
                </a:solidFill>
              </a:rPr>
              <a:t>Available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666707-1B44-45D9-B639-E2E11FAB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2324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670C9D-E147-424A-820E-234157A1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67250"/>
            <a:ext cx="2057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68"/>
                </a:solidFill>
              </a:defRPr>
            </a:pPr>
            <a:r>
              <a:rPr sz="1200" b="0">
                <a:solidFill>
                  <a:srgbClr val="607268"/>
                </a:solidFill>
              </a:rPr>
              <a:t>Government network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7F0961-9EFD-4198-9DCC-621510B0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91050"/>
            <a:ext cx="29146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EF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856FFF-A461-44B2-8746-E76BCFB5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6725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D2B"/>
                </a:solidFill>
              </a:defRPr>
            </a:pPr>
            <a:r>
              <a:rPr sz="1200" b="1">
                <a:solidFill>
                  <a:srgbClr val="173D2B"/>
                </a:solidFill>
              </a:rPr>
              <a:t>Built into each case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EE44C9-6C95-488D-B090-816149F1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2857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99E07A-C2DE-4924-8D3A-76CF0EB1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2590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31A"/>
                </a:solidFill>
              </a:defRPr>
            </a:pPr>
            <a:r>
              <a:rPr sz="1200" b="1">
                <a:solidFill>
                  <a:srgbClr val="13231A"/>
                </a:solidFill>
              </a:rPr>
              <a:t>Privacy-aware outbreaks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B406094-E2BF-4D10-B044-F9D95C71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72075"/>
            <a:ext cx="24193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3D2EFE-6D51-4122-98EF-E3811779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248275"/>
            <a:ext cx="2152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68"/>
                </a:solidFill>
              </a:defRPr>
            </a:pPr>
            <a:r>
              <a:rPr sz="1200" b="0">
                <a:solidFill>
                  <a:srgbClr val="607268"/>
                </a:solidFill>
              </a:rPr>
              <a:t>Commercial signals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7978588-A173-4870-BFC6-7E2EC87B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72075"/>
            <a:ext cx="23241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8070F9A-D81B-47AD-9EB1-2DDB9742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48275"/>
            <a:ext cx="20574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268"/>
                </a:solidFill>
              </a:defRPr>
            </a:pPr>
            <a:r>
              <a:rPr sz="1200" b="0">
                <a:solidFill>
                  <a:srgbClr val="607268"/>
                </a:solidFill>
              </a:rPr>
              <a:t>National surveillance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AD71EE3-5026-464D-9266-F62054CD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172075"/>
            <a:ext cx="291465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7"/>
          </a:solidFill>
          <a:ln xmlns:a="http://schemas.openxmlformats.org/drawingml/2006/main" w="9525">
            <a:solidFill>
              <a:srgbClr val="D8E1D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8AEC00-F7A0-4F77-9E5A-AA279F92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4827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D2B"/>
                </a:solidFill>
              </a:defRPr>
            </a:pPr>
            <a:r>
              <a:rPr sz="1200" b="1">
                <a:solidFill>
                  <a:srgbClr val="173D2B"/>
                </a:solidFill>
              </a:rPr>
              <a:t>Taluka thresholding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15CF18C-8251-4D8E-BAD7-BA6D94A7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D2B"/>
                </a:solidFill>
              </a:defRPr>
            </a:pPr>
            <a:r>
              <a:rPr sz="1725" b="1">
                <a:solidFill>
                  <a:srgbClr val="173D2B"/>
                </a:solidFill>
              </a:rPr>
              <a:t>Positioning: trusted Maharashtra crop-care workflow—not another generic classifier.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09F249A-88C7-4E7F-9D7A-CEE5C1C1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268"/>
                </a:solidFill>
              </a:defRPr>
            </a:pPr>
            <a:r>
              <a:rPr sz="825" b="1">
                <a:solidFill>
                  <a:srgbClr val="607268"/>
                </a:solidFill>
              </a:rPr>
              <a:t>TROUBLE SHOOTERS  •  SIH 26131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4A1C48F-2959-4370-8EBF-A5A8D31A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268"/>
                </a:solidFill>
              </a:defRPr>
            </a:pPr>
            <a:r>
              <a:rPr sz="825" b="1">
                <a:solidFill>
                  <a:srgbClr val="607268"/>
                </a:solidFill>
              </a:rPr>
              <a:t>CropAI Maharashtra</a:t>
            </a:r>
          </a:p>
        </p:txBody>
      </p:sp>
    </p:spTree>
    <p:extLst>
      <p:ext uri="{BB962C8B-B14F-4D97-AF65-F5344CB8AC3E}">
        <p14:creationId xmlns:p14="http://schemas.microsoft.com/office/powerpoint/2010/main" val="8047993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E29FE5-C098-492F-B973-03445A4F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D2B"/>
                </a:solidFill>
              </a:defRPr>
            </a:pPr>
            <a:r>
              <a:rPr sz="975" b="1">
                <a:solidFill>
                  <a:srgbClr val="173D2B"/>
                </a:solidFill>
              </a:rPr>
              <a:t>FEASIBILITY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B8ECD-7123-428E-A752-4C4167B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31A"/>
                </a:solidFill>
              </a:defRPr>
            </a:pPr>
            <a:r>
              <a:rPr sz="2850" b="1">
                <a:solidFill>
                  <a:srgbClr val="13231A"/>
                </a:solidFill>
              </a:rPr>
              <a:t>The prototype is deployable; model release remains evidence-gated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067C8-3093-4723-ADCE-F5DB8BEB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00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268"/>
                </a:solidFill>
              </a:defRPr>
            </a:pPr>
            <a:r>
              <a:rPr sz="975" b="1">
                <a:solidFill>
                  <a:srgbClr val="607268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5F08E-775A-42B8-8CE7-12C7E533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74622D-6BC3-467B-80FB-F39D071F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3D2B"/>
                </a:solidFill>
              </a:defRPr>
            </a:pPr>
            <a:r>
              <a:rPr sz="1200" b="1">
                <a:solidFill>
                  <a:srgbClr val="173D2B"/>
                </a:solidFill>
              </a:rPr>
              <a:t>BUILT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5BF1F-4D8C-442A-A749-CA30FF31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C98B"/>
                </a:solidFill>
              </a:defRPr>
            </a:pPr>
            <a:r>
              <a:rPr sz="1050" b="1">
                <a:solidFill>
                  <a:srgbClr val="79C98B"/>
                </a:solidFill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DA428-2532-4031-BA51-8D8FCFE0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React installable PWA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5D5CF-9FDC-4604-8BF9-B6E301E3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C98B"/>
                </a:solidFill>
              </a:defRPr>
            </a:pPr>
            <a:r>
              <a:rPr sz="1050" b="1">
                <a:solidFill>
                  <a:srgbClr val="79C98B"/>
                </a:solidFill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68FFD-7B35-4F7D-BCAC-E0ACE25A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Firebase Auth + verified users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9CE70-856C-4D26-BD35-838A01B70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C98B"/>
                </a:solidFill>
              </a:defRPr>
            </a:pPr>
            <a:r>
              <a:rPr sz="1050" b="1">
                <a:solidFill>
                  <a:srgbClr val="79C98B"/>
                </a:solidFill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BE016-38AE-4312-90A1-8597631B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Firestore tenant isolation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5AC94F-87FC-4167-83CC-9F2A7B58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C98B"/>
                </a:solidFill>
              </a:defRPr>
            </a:pPr>
            <a:r>
              <a:rPr sz="1050" b="1">
                <a:solidFill>
                  <a:srgbClr val="79C98B"/>
                </a:solidFill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2D909-55FC-4BDE-9166-98C87FD8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Private image quarantine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7F23C-1FFF-4B8B-A089-921E7980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C98B"/>
                </a:solidFill>
              </a:defRPr>
            </a:pPr>
            <a:r>
              <a:rPr sz="1050" b="1">
                <a:solidFill>
                  <a:srgbClr val="79C98B"/>
                </a:solidFill>
              </a:rPr>
              <a:t>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96975-DC5E-48C7-84C1-B150986E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Cloud Functions scan 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2F107-4768-4F0F-A1E2-4D128770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C98B"/>
                </a:solidFill>
              </a:defRPr>
            </a:pPr>
            <a:r>
              <a:rPr sz="1050" b="1">
                <a:solidFill>
                  <a:srgbClr val="79C98B"/>
                </a:solidFill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A90EB9-8C3F-463A-A803-19187885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Expert/admin role workflows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50100-F356-40F3-9C0B-1EF6D448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52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7E3F"/>
                </a:solidFill>
              </a:defRPr>
            </a:pPr>
            <a:r>
              <a:rPr sz="1200" b="1">
                <a:solidFill>
                  <a:srgbClr val="E67E3F"/>
                </a:solidFill>
              </a:rPr>
              <a:t>CONTROLLED RELEASE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1B1C32-32ED-4D76-ABFF-AD378A25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3F"/>
                </a:solidFill>
              </a:defRPr>
            </a:pPr>
            <a:r>
              <a:rPr sz="1050" b="1">
                <a:solidFill>
                  <a:srgbClr val="E67E3F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3D3AA-3258-4C08-A19A-9657FB77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526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Six Maharashtra-priority crop models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1E9F2-77F9-42FA-8E08-405100DA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051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3F"/>
                </a:solidFill>
              </a:defRPr>
            </a:pPr>
            <a:r>
              <a:rPr sz="1050" b="1">
                <a:solidFill>
                  <a:srgbClr val="E67E3F"/>
                </a:solidFill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C84706-2A29-480D-8FB4-2A9979E4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Independent field-set validation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CD96D-923B-4EE8-B91B-DF949CE1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3F"/>
                </a:solidFill>
              </a:defRPr>
            </a:pPr>
            <a:r>
              <a:rPr sz="1050" b="1">
                <a:solidFill>
                  <a:srgbClr val="E67E3F"/>
                </a:solidFill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061D75-98E5-42B9-B41B-735DDBD7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813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Per-class recall &amp; macro-F1 gates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46433E-86FE-4EB2-AD5A-3F25FEAF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3380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3F"/>
                </a:solidFill>
              </a:defRPr>
            </a:pPr>
            <a:r>
              <a:rPr sz="1050" b="1">
                <a:solidFill>
                  <a:srgbClr val="E67E3F"/>
                </a:solidFill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5774B0-2B9E-4203-B0F6-074E5676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957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Unknown / out-of-scope detection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F35355-14B7-49A2-A665-7BC786B1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481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7E3F"/>
                </a:solidFill>
              </a:defRPr>
            </a:pPr>
            <a:r>
              <a:rPr sz="1050" b="1">
                <a:solidFill>
                  <a:srgbClr val="E67E3F"/>
                </a:solidFill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FED7FE-F2F5-433B-83BC-3BE4E62B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2100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31A"/>
                </a:solidFill>
              </a:defRPr>
            </a:pPr>
            <a:r>
              <a:rPr sz="1350" b="0">
                <a:solidFill>
                  <a:srgbClr val="13231A"/>
                </a:solidFill>
              </a:rPr>
              <a:t>Model + dataset checksums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173FBB-4AE8-48E8-A37E-FA388BCB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3276600" cy="3714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73D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E3E76E-CEA0-404F-A265-F2D7FC3C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3835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9C98B"/>
                </a:solidFill>
              </a:defRPr>
            </a:pPr>
            <a:r>
              <a:rPr sz="1200" b="1">
                <a:solidFill>
                  <a:srgbClr val="79C98B"/>
                </a:solidFill>
              </a:rPr>
              <a:t>TECH STACK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E4ED4B-C2C3-45FA-A58D-5F8037D2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76500"/>
            <a:ext cx="2686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6F2E8"/>
                </a:solidFill>
              </a:defRPr>
            </a:pPr>
            <a:r>
              <a:rPr sz="1725" b="1">
                <a:solidFill>
                  <a:srgbClr val="F6F2E8"/>
                </a:solidFill>
              </a:rPr>
              <a:t>Vite + React</a:t>
            </a:r>
          </a:p>
          <a:p xmlns:a="http://schemas.openxmlformats.org/drawingml/2006/main">
            <a:pPr algn="l">
              <a:defRPr sz="1725" b="1">
                <a:solidFill>
                  <a:srgbClr val="F6F2E8"/>
                </a:solidFill>
              </a:defRPr>
            </a:pPr>
            <a:r>
              <a:rPr sz="1725" b="1">
                <a:solidFill>
                  <a:srgbClr val="F6F2E8"/>
                </a:solidFill>
              </a:rPr>
              <a:t>Firebase Auth / Firestore</a:t>
            </a:r>
          </a:p>
          <a:p xmlns:a="http://schemas.openxmlformats.org/drawingml/2006/main">
            <a:pPr algn="l">
              <a:defRPr sz="1725" b="1">
                <a:solidFill>
                  <a:srgbClr val="F6F2E8"/>
                </a:solidFill>
              </a:defRPr>
            </a:pPr>
            <a:r>
              <a:rPr sz="1725" b="1">
                <a:solidFill>
                  <a:srgbClr val="F6F2E8"/>
                </a:solidFill>
              </a:rPr>
              <a:t>Cloud Storage + Functions</a:t>
            </a:r>
          </a:p>
          <a:p xmlns:a="http://schemas.openxmlformats.org/drawingml/2006/main">
            <a:pPr algn="l">
              <a:defRPr sz="1725" b="1">
                <a:solidFill>
                  <a:srgbClr val="F6F2E8"/>
                </a:solidFill>
              </a:defRPr>
            </a:pPr>
            <a:r>
              <a:rPr sz="1725" b="1">
                <a:solidFill>
                  <a:srgbClr val="F6F2E8"/>
                </a:solidFill>
              </a:rPr>
              <a:t>Private Cloud Run inference</a:t>
            </a:r>
          </a:p>
          <a:p xmlns:a="http://schemas.openxmlformats.org/drawingml/2006/main">
            <a:pPr algn="l">
              <a:defRPr sz="1725" b="1">
                <a:solidFill>
                  <a:srgbClr val="F6F2E8"/>
                </a:solidFill>
              </a:defRPr>
            </a:pPr>
            <a:r>
              <a:rPr sz="1725" b="1">
                <a:solidFill>
                  <a:srgbClr val="F6F2E8"/>
                </a:solidFill>
              </a:rPr>
              <a:t>ONNX model packages</a:t>
            </a:r>
          </a:p>
          <a:p xmlns:a="http://schemas.openxmlformats.org/drawingml/2006/main">
            <a:pPr algn="l">
              <a:defRPr sz="1725" b="1">
                <a:solidFill>
                  <a:srgbClr val="F6F2E8"/>
                </a:solidFill>
              </a:defRPr>
            </a:pPr>
            <a:r>
              <a:rPr sz="1725" b="1">
                <a:solidFill>
                  <a:srgbClr val="F6F2E8"/>
                </a:solidFill>
              </a:rPr>
              <a:t>FCM alerts + PWA offline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3E2E97-6377-4E90-B84F-7F1369D5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530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DE9E1"/>
                </a:solidFill>
              </a:defRPr>
            </a:pPr>
            <a:r>
              <a:rPr sz="1275" b="1">
                <a:solidFill>
                  <a:srgbClr val="DDE9E1"/>
                </a:solidFill>
              </a:rPr>
              <a:t>Security rules: 11 / 11 tests passed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11B5C3-4B21-4CD9-A023-181FFD38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268"/>
                </a:solidFill>
              </a:defRPr>
            </a:pPr>
            <a:r>
              <a:rPr sz="825" b="1">
                <a:solidFill>
                  <a:srgbClr val="607268"/>
                </a:solidFill>
              </a:rPr>
              <a:t>TROUBLE SHOOTERS  •  SIH 26131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53C368-C501-4671-B0F2-563C1600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38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268"/>
                </a:solidFill>
              </a:defRPr>
            </a:pPr>
            <a:r>
              <a:rPr sz="825" b="1">
                <a:solidFill>
                  <a:srgbClr val="607268"/>
                </a:solidFill>
              </a:rPr>
              <a:t>CropAI Maharashtra</a:t>
            </a:r>
          </a:p>
        </p:txBody>
      </p:sp>
    </p:spTree>
    <p:extLst>
      <p:ext uri="{BB962C8B-B14F-4D97-AF65-F5344CB8AC3E}">
        <p14:creationId xmlns:p14="http://schemas.microsoft.com/office/powerpoint/2010/main" val="20232367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3D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0F5134-49FA-4C69-9389-F5721978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9C98B"/>
                </a:solidFill>
              </a:defRPr>
            </a:pPr>
            <a:r>
              <a:rPr sz="1050" b="1">
                <a:solidFill>
                  <a:srgbClr val="79C98B"/>
                </a:solidFill>
              </a:rPr>
              <a:t>THE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E79AE-A723-4440-8AC3-097175C7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6F2E8"/>
                </a:solidFill>
              </a:defRPr>
            </a:pPr>
            <a:r>
              <a:rPr sz="3225" b="1">
                <a:solidFill>
                  <a:srgbClr val="F6F2E8"/>
                </a:solidFill>
              </a:rPr>
              <a:t>Earlier action. Safer advice.</a:t>
            </a:r>
          </a:p>
          <a:p xmlns:a="http://schemas.openxmlformats.org/drawingml/2006/main">
            <a:pPr algn="l">
              <a:defRPr sz="3225" b="1">
                <a:solidFill>
                  <a:srgbClr val="F6F2E8"/>
                </a:solidFill>
              </a:defRPr>
            </a:pPr>
            <a:r>
              <a:rPr sz="3225" b="1">
                <a:solidFill>
                  <a:srgbClr val="F6F2E8"/>
                </a:solidFill>
              </a:rPr>
              <a:t>Stronger extension reach.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C7996-EB24-471A-9750-508269DF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3333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214D38"/>
          </a:solidFill>
          <a:ln xmlns:a="http://schemas.openxmlformats.org/drawingml/2006/main" w="9525">
            <a:solidFill>
              <a:srgbClr val="4774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1FF57-AEFA-436A-8545-9C5B4267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9C98B"/>
                </a:solidFill>
              </a:defRPr>
            </a:pPr>
            <a:r>
              <a:rPr sz="1125" b="1">
                <a:solidFill>
                  <a:srgbClr val="79C98B"/>
                </a:solidFill>
              </a:rPr>
              <a:t>FARMER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5DBA4-43CF-48AA-A38D-36623E49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2E8"/>
                </a:solidFill>
              </a:defRPr>
            </a:pPr>
            <a:r>
              <a:rPr sz="1575" b="1">
                <a:solidFill>
                  <a:srgbClr val="F6F2E8"/>
                </a:solidFill>
              </a:rPr>
              <a:t>Understands what to do next in their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BCA42-A2AD-41D1-BA7A-C4FD3F02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3333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214D38"/>
          </a:solidFill>
          <a:ln xmlns:a="http://schemas.openxmlformats.org/drawingml/2006/main" w="9525">
            <a:solidFill>
              <a:srgbClr val="4774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53225-4269-478A-973E-D8B2601D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9C98B"/>
                </a:solidFill>
              </a:defRPr>
            </a:pPr>
            <a:r>
              <a:rPr sz="1125" b="1">
                <a:solidFill>
                  <a:srgbClr val="79C98B"/>
                </a:solidFill>
              </a:rPr>
              <a:t>EXPERT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F28228-298E-4CCD-81B8-FDA51FD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05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2E8"/>
                </a:solidFill>
              </a:defRPr>
            </a:pPr>
            <a:r>
              <a:rPr sz="1575" b="1">
                <a:solidFill>
                  <a:srgbClr val="F6F2E8"/>
                </a:solidFill>
              </a:rPr>
              <a:t>Prioritizes uncertain and high-risk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AA2DF-16B9-485B-8176-1C977D09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3333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214D38"/>
          </a:solidFill>
          <a:ln xmlns:a="http://schemas.openxmlformats.org/drawingml/2006/main" w="9525">
            <a:solidFill>
              <a:srgbClr val="477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25272D-2337-40F1-86BF-CE929BA2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9C98B"/>
                </a:solidFill>
              </a:defRPr>
            </a:pPr>
            <a:r>
              <a:rPr sz="1125" b="1">
                <a:solidFill>
                  <a:srgbClr val="79C98B"/>
                </a:solidFill>
              </a:rPr>
              <a:t>GOVERNMENT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2416D-D42C-416D-ADBD-BE6FD64B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2E8"/>
                </a:solidFill>
              </a:defRPr>
            </a:pPr>
            <a:r>
              <a:rPr sz="1575" b="1">
                <a:solidFill>
                  <a:srgbClr val="F6F2E8"/>
                </a:solidFill>
              </a:rPr>
              <a:t>Sees privacy-safe emerging outbreak signals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809BF-8596-4256-AD80-B2F2EC98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9C98B"/>
                </a:solidFill>
              </a:defRPr>
            </a:pPr>
            <a:r>
              <a:rPr sz="1125" b="1">
                <a:solidFill>
                  <a:srgbClr val="79C98B"/>
                </a:solidFill>
              </a:rPr>
              <a:t>90-DAY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6A441-BF65-4EF7-9A25-DA5AB9DE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6F2E8"/>
                </a:solidFill>
              </a:defRPr>
            </a:pPr>
            <a:r>
              <a:rPr sz="1800" b="1">
                <a:solidFill>
                  <a:srgbClr val="F6F2E8"/>
                </a:solidFill>
              </a:rPr>
              <a:t>1 district  →  6 priority crops  →  KVK expert validation  →  measurable follow-up outcomes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AB524-0926-48E0-A0EE-E1A3179E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C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B7BFB-172F-432B-930D-6A68A44F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9C98B"/>
                </a:solidFill>
              </a:defRPr>
            </a:pPr>
            <a:r>
              <a:rPr sz="1650" b="1">
                <a:solidFill>
                  <a:srgbClr val="79C98B"/>
                </a:solidFill>
              </a:rPr>
              <a:t>Trouble Shooters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7E944-49CB-40E0-AED9-584AB6F9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924550"/>
            <a:ext cx="662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6F2E8"/>
                </a:solidFill>
              </a:defRPr>
            </a:pPr>
            <a:r>
              <a:rPr sz="1800" b="1">
                <a:solidFill>
                  <a:srgbClr val="F6F2E8"/>
                </a:solidFill>
              </a:rPr>
              <a:t>Let Maharashtra farmers act before damage spreads.</a:t>
            </a:r>
          </a:p>
        </p:txBody>
      </p:sp>
    </p:spTree>
    <p:extLst>
      <p:ext uri="{BB962C8B-B14F-4D97-AF65-F5344CB8AC3E}">
        <p14:creationId xmlns:p14="http://schemas.microsoft.com/office/powerpoint/2010/main" val="2014286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2026-08-31T15:22:57.6050000Z</dcterms:created>
  <dcterms:modified xsi:type="dcterms:W3CDTF">2026-08-31T15:22:57.6050000Z</dcterms:modified>
</coreProperties>
</file>